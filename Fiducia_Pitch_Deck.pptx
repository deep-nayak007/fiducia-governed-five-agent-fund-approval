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3344" y="310896"/>
            <a:ext cx="914400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6496" y="31546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3DCE4"/>
                </a:solidFill>
                <a:latin typeface="DM Sans"/>
              </a:rPr>
              <a:t>0:00–0:45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33271"/>
            <a:ext cx="6583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3F7FA"/>
                </a:solidFill>
                <a:latin typeface="Manrope"/>
              </a:rPr>
              <a:t>Approval is a decision system—
not an inbox.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22576"/>
            <a:ext cx="6172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91A7B8"/>
                </a:solidFill>
                <a:latin typeface="DM Sans"/>
              </a:rPr>
              <a:t>Analysts re-key facts. Specialists reconstruct context. Sponsors assemble the final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54096"/>
            <a:ext cx="1975104" cy="131673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20954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9C6B3"/>
                </a:solidFill>
                <a:latin typeface="DM Sa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4728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3F7FA"/>
                </a:solidFill>
                <a:latin typeface="Manrope"/>
              </a:rPr>
              <a:t>FRAGMENTED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749039"/>
            <a:ext cx="1627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Evidence lives across files, messages and versions.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054096"/>
            <a:ext cx="1975104" cy="131673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20954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9C6B3"/>
                </a:solidFill>
                <a:latin typeface="DM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44728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3F7FA"/>
                </a:solidFill>
                <a:latin typeface="Manrope"/>
              </a:rPr>
              <a:t>SERIAL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749039"/>
            <a:ext cx="1627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Every handoff waits for the previous inbox.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3054096"/>
            <a:ext cx="1975104" cy="131673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20954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9C6B3"/>
                </a:solidFill>
                <a:latin typeface="DM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344728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3F7FA"/>
                </a:solidFill>
                <a:latin typeface="Manrope"/>
              </a:rPr>
              <a:t>OPAQUE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3749039"/>
            <a:ext cx="1627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The ‘why’ is rebuilt after the decision.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188720"/>
            <a:ext cx="4005072" cy="5852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43800" y="1316736"/>
            <a:ext cx="310896" cy="310896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13167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3DCE4"/>
                </a:solidFill>
                <a:latin typeface="DM Sa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7" y="12984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Manrope"/>
              </a:rPr>
              <a:t>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298448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91A7B8"/>
                </a:solidFill>
                <a:latin typeface="DM Sans"/>
              </a:rPr>
              <a:t>normalize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52759" y="1344168"/>
            <a:ext cx="585216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25911" y="1348739"/>
            <a:ext cx="4389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INBOX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1773936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86579"/>
                </a:solidFill>
                <a:latin typeface="DM Sans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1956816"/>
            <a:ext cx="4005072" cy="5852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71816" y="2084832"/>
            <a:ext cx="310896" cy="310896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1816" y="2084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3DCE4"/>
                </a:solidFill>
                <a:latin typeface="DM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1583" y="20665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Manrope"/>
              </a:rPr>
              <a:t>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6336" y="206654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91A7B8"/>
                </a:solidFill>
                <a:latin typeface="DM Sans"/>
              </a:rPr>
              <a:t>test rules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80776" y="2112264"/>
            <a:ext cx="585216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53928" y="2116836"/>
            <a:ext cx="4389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INBOX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254203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86579"/>
                </a:solidFill>
                <a:latin typeface="DM Sans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2724912"/>
            <a:ext cx="4005072" cy="5852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43800" y="2852928"/>
            <a:ext cx="310896" cy="310896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28529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3DCE4"/>
                </a:solidFill>
                <a:latin typeface="DM San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7" y="28346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Manrope"/>
              </a:rPr>
              <a:t>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28346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91A7B8"/>
                </a:solidFill>
                <a:latin typeface="DM Sans"/>
              </a:rPr>
              <a:t>plan fit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52759" y="2880360"/>
            <a:ext cx="585216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1" y="2884932"/>
            <a:ext cx="4389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INBOX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31012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86579"/>
                </a:solidFill>
                <a:latin typeface="DM Sans"/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34656" y="3493008"/>
            <a:ext cx="4005072" cy="5852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71816" y="3621024"/>
            <a:ext cx="310896" cy="310896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71816" y="36210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3DCE4"/>
                </a:solidFill>
                <a:latin typeface="DM San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1583" y="360273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Manrope"/>
              </a:rPr>
              <a:t>FINANCE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46336" y="3602736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91A7B8"/>
                </a:solidFill>
                <a:latin typeface="DM Sans"/>
              </a:rPr>
              <a:t>fee math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780776" y="3648456"/>
            <a:ext cx="585216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53928" y="3653028"/>
            <a:ext cx="4389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INBOX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0304" y="407822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86579"/>
                </a:solidFill>
                <a:latin typeface="DM Sans"/>
              </a:rPr>
              <a:t>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0" y="4261104"/>
            <a:ext cx="4005072" cy="5852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543800" y="4389120"/>
            <a:ext cx="310896" cy="310896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43800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3DCE4"/>
                </a:solidFill>
                <a:latin typeface="DM Sans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73567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Manrope"/>
              </a:rPr>
              <a:t>SPONSOR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437083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91A7B8"/>
                </a:solidFill>
                <a:latin typeface="DM Sans"/>
              </a:rPr>
              <a:t>synthesize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52759" y="4416552"/>
            <a:ext cx="585216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25911" y="4421124"/>
            <a:ext cx="4389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INBOX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4882896"/>
            <a:ext cx="10881360" cy="1042415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" y="512064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3F7FA"/>
                </a:solidFill>
                <a:latin typeface="Manrope"/>
              </a:rPr>
              <a:t>A fluent answer is not a control.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06440" y="5093208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9C6B3"/>
                </a:solidFill>
                <a:latin typeface="DM Sans"/>
              </a:rPr>
              <a:t>Fiducia creates one case, one evidence chain and one accountable next 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FIVE-AGENT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3344" y="310896"/>
            <a:ext cx="914400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6496" y="31546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3DCE4"/>
                </a:solidFill>
                <a:latin typeface="DM Sans"/>
              </a:rPr>
              <a:t>0:45–1:05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3F7FA"/>
                </a:solidFill>
                <a:latin typeface="Manrope"/>
              </a:rPr>
              <a:t>Five bounded agents. One evidence 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LangGraph owns state and routing. Deterministic code owns validation, math and decision gates.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017520"/>
            <a:ext cx="182880" cy="0"/>
          </a:xfrm>
          <a:prstGeom prst="line">
            <a:avLst/>
          </a:prstGeom>
          <a:ln w="2159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79192" y="2871216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4608" y="3017520"/>
            <a:ext cx="182880" cy="0"/>
          </a:xfrm>
          <a:prstGeom prst="line">
            <a:avLst/>
          </a:prstGeom>
          <a:ln w="2159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37760" y="2871216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5" y="3017520"/>
            <a:ext cx="182881" cy="0"/>
          </a:xfrm>
          <a:prstGeom prst="line">
            <a:avLst/>
          </a:prstGeom>
          <a:ln w="2159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96327" y="2871216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81744" y="3017520"/>
            <a:ext cx="182880" cy="0"/>
          </a:xfrm>
          <a:prstGeom prst="line">
            <a:avLst/>
          </a:prstGeom>
          <a:ln w="2159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54896" y="2871216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2249424"/>
            <a:ext cx="2075688" cy="1664208"/>
          </a:xfrm>
          <a:prstGeom prst="roundRect">
            <a:avLst/>
          </a:prstGeom>
          <a:solidFill>
            <a:srgbClr val="0D2033"/>
          </a:solidFill>
          <a:ln w="15875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2414016"/>
            <a:ext cx="347472" cy="347472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244144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9C6B3"/>
                </a:solidFill>
                <a:latin typeface="Manrope"/>
              </a:rPr>
              <a:t>ANALYST /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16936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3F7FA"/>
                </a:solidFill>
                <a:latin typeface="Manrope"/>
              </a:rPr>
              <a:t>Normalize intake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46704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schema • source lookup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2249424"/>
            <a:ext cx="2075688" cy="1664208"/>
          </a:xfrm>
          <a:prstGeom prst="roundRect">
            <a:avLst/>
          </a:prstGeom>
          <a:solidFill>
            <a:srgbClr val="0D2033"/>
          </a:solidFill>
          <a:ln w="15875">
            <a:solidFill>
              <a:srgbClr val="58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44368" y="2414016"/>
            <a:ext cx="347472" cy="347472"/>
          </a:xfrm>
          <a:prstGeom prst="ellipse">
            <a:avLst/>
          </a:prstGeom>
          <a:solidFill>
            <a:srgbClr val="58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2424" y="244144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58A6D6"/>
                </a:solidFill>
                <a:latin typeface="Manrope"/>
              </a:rPr>
              <a:t>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2916936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3F7FA"/>
                </a:solidFill>
                <a:latin typeface="Manrope"/>
              </a:rPr>
              <a:t>Test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3346704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controls • references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2249424"/>
            <a:ext cx="2075688" cy="1664208"/>
          </a:xfrm>
          <a:prstGeom prst="roundRect">
            <a:avLst/>
          </a:prstGeom>
          <a:solidFill>
            <a:srgbClr val="0D2033"/>
          </a:solidFill>
          <a:ln w="15875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02936" y="2414016"/>
            <a:ext cx="347472" cy="347472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2936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244144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57D49B"/>
                </a:solidFill>
                <a:latin typeface="Manrope"/>
              </a:rPr>
              <a:t>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2916936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3F7FA"/>
                </a:solidFill>
                <a:latin typeface="Manrope"/>
              </a:rPr>
              <a:t>Evaluate plan fit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2936" y="3346704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risk band • lineup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6056" y="2249424"/>
            <a:ext cx="2075688" cy="1664208"/>
          </a:xfrm>
          <a:prstGeom prst="roundRect">
            <a:avLst/>
          </a:prstGeom>
          <a:solidFill>
            <a:srgbClr val="0D2033"/>
          </a:solidFill>
          <a:ln w="15875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61504" y="2414016"/>
            <a:ext cx="347472" cy="34747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61504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244144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F4B942"/>
                </a:solidFill>
                <a:latin typeface="Manrope"/>
              </a:rPr>
              <a:t>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1504" y="2916936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3F7FA"/>
                </a:solidFill>
                <a:latin typeface="Manrope"/>
              </a:rPr>
              <a:t>Compare true cost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1504" y="3346704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fees • breakpoints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64624" y="2249424"/>
            <a:ext cx="2075688" cy="1664208"/>
          </a:xfrm>
          <a:prstGeom prst="roundRect">
            <a:avLst/>
          </a:prstGeom>
          <a:solidFill>
            <a:srgbClr val="0D2033"/>
          </a:solidFill>
          <a:ln w="15875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20072" y="2414016"/>
            <a:ext cx="347472" cy="347472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72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8128" y="244144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9C6B3"/>
                </a:solidFill>
                <a:latin typeface="Manrope"/>
              </a:rPr>
              <a:t>DECISION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0072" y="2916936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3F7FA"/>
                </a:solidFill>
                <a:latin typeface="Manrope"/>
              </a:rPr>
              <a:t>Aggregate + route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0072" y="3346704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risk • recommendation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315968"/>
            <a:ext cx="3456432" cy="71323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4471416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9C6B3"/>
                </a:solidFill>
                <a:latin typeface="DM Sans"/>
              </a:rPr>
              <a:t>EVIDENCE PLANE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4453128"/>
            <a:ext cx="1984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91A7B8"/>
                </a:solidFill>
                <a:latin typeface="DM Sans"/>
              </a:rPr>
              <a:t>source hash • typed nulls • as-of dates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4315968"/>
            <a:ext cx="3456432" cy="71323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25696" y="4471416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F4B942"/>
                </a:solidFill>
                <a:latin typeface="DM Sans"/>
              </a:rPr>
              <a:t>POLICY PLANE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1264" y="4453128"/>
            <a:ext cx="1984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91A7B8"/>
                </a:solidFill>
                <a:latin typeface="DM Sans"/>
              </a:rPr>
              <a:t>versioned rules • deterministic comparators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10144" y="4315968"/>
            <a:ext cx="3456432" cy="71323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6448" y="4471416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7D49B"/>
                </a:solidFill>
                <a:latin typeface="DM Sans"/>
              </a:rPr>
              <a:t>AUDIT PLANE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72016" y="4453128"/>
            <a:ext cx="1984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91A7B8"/>
                </a:solidFill>
                <a:latin typeface="DM Sans"/>
              </a:rPr>
              <a:t>tool receipts • transitions • SHA-256 chain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285232"/>
            <a:ext cx="7955279" cy="749808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" y="5431536"/>
            <a:ext cx="74797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1A7B8"/>
                </a:solidFill>
                <a:latin typeface="DM Sans"/>
              </a:rPr>
              <a:t>The model may </a:t>
            </a:r>
            <a:r>
              <a:rPr sz="1200" b="1">
                <a:solidFill>
                  <a:srgbClr val="19C6B3"/>
                </a:solidFill>
                <a:latin typeface="DM Sans"/>
              </a:rPr>
              <a:t>explain bounded findings</a:t>
            </a:r>
            <a:r>
              <a:rPr sz="1200" b="0">
                <a:solidFill>
                  <a:srgbClr val="D3DCE4"/>
                </a:solidFill>
                <a:latin typeface="DM Sans"/>
              </a:rPr>
              <a:t>. It may not invent a number, change a rule or approve its own exception.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11512" y="3913632"/>
            <a:ext cx="0" cy="1426464"/>
          </a:xfrm>
          <a:prstGeom prst="line">
            <a:avLst/>
          </a:prstGeom>
          <a:ln w="1524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710928" y="5001768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4B942"/>
                </a:solidFill>
                <a:latin typeface="DM Sans"/>
              </a:rPr>
              <a:t>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87384" y="5285232"/>
            <a:ext cx="2651760" cy="749808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544068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9" b="1">
                <a:solidFill>
                  <a:srgbClr val="F4B942"/>
                </a:solidFill>
                <a:latin typeface="DM Sans"/>
              </a:rPr>
              <a:t>GOVERNED HUMAN CHECKPOINT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5687568"/>
            <a:ext cx="2249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F3D88A"/>
                </a:solidFill>
                <a:latin typeface="DM Sans"/>
              </a:rPr>
              <a:t>approve • reject • 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LIVE DEMO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3344" y="310896"/>
            <a:ext cx="914400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6496" y="31546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3DCE4"/>
                </a:solidFill>
                <a:latin typeface="DM Sans"/>
              </a:rPr>
              <a:t>1:05–1:45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3F7FA"/>
                </a:solidFill>
                <a:latin typeface="Manrope"/>
              </a:rPr>
              <a:t>The demo proves behavior—not promises.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Run SUNX. Break DATA. Open the governed human checkpoint.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975104"/>
            <a:ext cx="7790688" cy="4096512"/>
          </a:xfrm>
          <a:prstGeom prst="roundRect">
            <a:avLst/>
          </a:prstGeom>
          <a:solidFill>
            <a:srgbClr val="091927"/>
          </a:solidFill>
          <a:ln w="1524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17627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9C6B3"/>
                </a:solidFill>
                <a:latin typeface="DM Sans"/>
              </a:rPr>
              <a:t>FIDUCIA CONTROL PLANE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103120"/>
            <a:ext cx="1581912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107691"/>
            <a:ext cx="1435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D3DCE4"/>
                </a:solidFill>
                <a:latin typeface="DM Sans"/>
              </a:rPr>
              <a:t>DATA · SYNTHETIC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2551176"/>
            <a:ext cx="1207008" cy="685800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2688336"/>
            <a:ext cx="246888" cy="24688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6883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06624"/>
            <a:ext cx="7040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3F7FA"/>
                </a:solidFill>
                <a:latin typeface="DM Sans"/>
              </a:rPr>
              <a:t>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9718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7D49B"/>
                </a:solidFill>
                <a:latin typeface="DM Sans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536" y="2743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86579"/>
                </a:solidFill>
                <a:latin typeface="DM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551176"/>
            <a:ext cx="1207008" cy="685800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86000" y="2688336"/>
            <a:ext cx="246888" cy="24688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26883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2706624"/>
            <a:ext cx="7040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3F7FA"/>
                </a:solidFill>
                <a:latin typeface="DM Sans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9718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7D49B"/>
                </a:solidFill>
                <a:latin typeface="DM Sans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2743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86579"/>
                </a:solidFill>
                <a:latin typeface="DM Sans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2736" y="2551176"/>
            <a:ext cx="1207008" cy="685800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94176" y="2688336"/>
            <a:ext cx="246888" cy="24688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26883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5072" y="2706624"/>
            <a:ext cx="7040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3F7FA"/>
                </a:solidFill>
                <a:latin typeface="DM Sans"/>
              </a:rPr>
              <a:t>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29718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7D49B"/>
                </a:solidFill>
                <a:latin typeface="DM Sans"/>
              </a:rPr>
              <a:t>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2743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86579"/>
                </a:solidFill>
                <a:latin typeface="DM San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0912" y="2551176"/>
            <a:ext cx="1207008" cy="685800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02352" y="2688336"/>
            <a:ext cx="246888" cy="24688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26883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8" y="2706624"/>
            <a:ext cx="7040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3F7FA"/>
                </a:solidFill>
                <a:latin typeface="DM Sans"/>
              </a:rPr>
              <a:t>FINANCE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29718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7D49B"/>
                </a:solidFill>
                <a:latin typeface="DM Sans"/>
              </a:rPr>
              <a:t>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7064" y="2743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86579"/>
                </a:solidFill>
                <a:latin typeface="DM Sans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088" y="2551176"/>
            <a:ext cx="1207008" cy="685800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10527" y="2688336"/>
            <a:ext cx="246888" cy="246888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7" y="26883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1424" y="2706624"/>
            <a:ext cx="7040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3F7FA"/>
                </a:solidFill>
                <a:latin typeface="DM Sans"/>
              </a:rPr>
              <a:t>SPONSOR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7" y="29718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19C6B3"/>
                </a:solidFill>
                <a:latin typeface="DM Sans"/>
              </a:rPr>
              <a:t>ACTIVE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" y="3502152"/>
            <a:ext cx="2907792" cy="2121408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368503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4B942"/>
                </a:solidFill>
                <a:latin typeface="DM Sans"/>
              </a:rPr>
              <a:t>SELF-CORRECTION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4600" y="3621024"/>
            <a:ext cx="932688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7752" y="3625596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4B942"/>
                </a:solidFill>
                <a:latin typeface="DM Sans"/>
              </a:rPr>
              <a:t>RETRY 1 /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123944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Sharpe ratio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1488" y="41148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6B6B"/>
                </a:solidFill>
                <a:latin typeface="DM Sans"/>
              </a:rPr>
              <a:t>NULL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60120" y="4425696"/>
            <a:ext cx="2468880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" y="4590288"/>
            <a:ext cx="12252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Approved source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79192" y="4581144"/>
            <a:ext cx="649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7D49B"/>
                </a:solidFill>
                <a:latin typeface="DM Sans"/>
              </a:rPr>
              <a:t>FOUND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" y="4983480"/>
            <a:ext cx="2468880" cy="393192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2D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5074920"/>
            <a:ext cx="2212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1">
                <a:solidFill>
                  <a:srgbClr val="57D49B"/>
                </a:solidFill>
                <a:latin typeface="DM Sans"/>
              </a:rPr>
              <a:t>↻ validate again in the same case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22776" y="3502152"/>
            <a:ext cx="4133087" cy="2121408"/>
          </a:xfrm>
          <a:prstGeom prst="roundRect">
            <a:avLst/>
          </a:prstGeom>
          <a:solidFill>
            <a:srgbClr val="102D41"/>
          </a:solidFill>
          <a:ln w="1524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51376" y="3712463"/>
            <a:ext cx="18928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91A7B8"/>
                </a:solidFill>
                <a:latin typeface="DM Sans"/>
              </a:rPr>
              <a:t>AGENT RECOMMENDATION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1376" y="4050791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4B942"/>
                </a:solidFill>
                <a:latin typeface="Manrope"/>
              </a:rPr>
              <a:t>APPROVE WITH
CONDITIONS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51376" y="4928616"/>
            <a:ext cx="3172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3DCE4"/>
                </a:solidFill>
                <a:latin typeface="DM Sans"/>
              </a:rPr>
              <a:t>Risk 4 / 100  •  Confidence 0.94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52744" y="5010912"/>
            <a:ext cx="1837943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25896" y="5015484"/>
            <a:ext cx="1691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4B942"/>
                </a:solidFill>
                <a:latin typeface="DM Sans"/>
              </a:rPr>
              <a:t>AWAITING HUMAN REVIEW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04504" y="1984248"/>
            <a:ext cx="2834640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87384" y="2157984"/>
            <a:ext cx="329184" cy="329184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87384" y="21579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213055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57D49B"/>
                </a:solidFill>
                <a:latin typeface="DM Sans"/>
              </a:rPr>
              <a:t>GOLDEN PATH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35440" y="2414015"/>
            <a:ext cx="1847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SUNX → APPROVE
no human touch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04504" y="3182112"/>
            <a:ext cx="2834640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787384" y="3355848"/>
            <a:ext cx="329184" cy="329184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87384" y="335584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332841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19C6B3"/>
                </a:solidFill>
                <a:latin typeface="DM Sans"/>
              </a:rPr>
              <a:t>RECOVERY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3611880"/>
            <a:ext cx="1847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DATA → retry 1/2
source recorded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604504" y="4379976"/>
            <a:ext cx="2834640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87384" y="4553712"/>
            <a:ext cx="329184" cy="329184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87384" y="45537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4526280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F4B942"/>
                </a:solidFill>
                <a:latin typeface="DM Sans"/>
              </a:rPr>
              <a:t>CONTROL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5440" y="4809744"/>
            <a:ext cx="1847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condition → pause
reason required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04504" y="5577840"/>
            <a:ext cx="2834640" cy="493776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59952" y="5733288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9C6B3"/>
                </a:solidFill>
                <a:latin typeface="DM Sans"/>
              </a:rPr>
              <a:t>SHOW EVENTS, NOT HIDDEN CHAIN-OF-THOUGHT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GOVERNANCE +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3344" y="310896"/>
            <a:ext cx="914400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6496" y="31546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3DCE4"/>
                </a:solidFill>
                <a:latin typeface="DM Sans"/>
              </a:rPr>
              <a:t>1:45–2:30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3F7FA"/>
                </a:solidFill>
                <a:latin typeface="Manrope"/>
              </a:rPr>
              <a:t>Scale the workflow—never the uncertainty.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The prototype proves isolated case state and bounded retry; the production target adds queue-backed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993392"/>
            <a:ext cx="5212080" cy="3529584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221992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9C6B3"/>
                </a:solidFill>
                <a:latin typeface="DM Sans"/>
              </a:rPr>
              <a:t>PRODUCTION SCALE TARGET • NOT DEPLOYED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706624"/>
            <a:ext cx="950976" cy="3566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98064"/>
            <a:ext cx="7589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1A7B8"/>
                </a:solidFill>
                <a:latin typeface="DM Sans"/>
              </a:rPr>
              <a:t>CASE 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64792" y="2889504"/>
            <a:ext cx="448056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672" y="3236976"/>
            <a:ext cx="950976" cy="3566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328416"/>
            <a:ext cx="7589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1A7B8"/>
                </a:solidFill>
                <a:latin typeface="DM Sans"/>
              </a:rPr>
              <a:t>CASE 02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64792" y="3419856"/>
            <a:ext cx="448056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4672" y="3767328"/>
            <a:ext cx="950976" cy="35661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7589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1A7B8"/>
                </a:solidFill>
                <a:latin typeface="DM Sans"/>
              </a:rPr>
              <a:t>CASE 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64792" y="3950208"/>
            <a:ext cx="448056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221992" y="2889504"/>
            <a:ext cx="786384" cy="1078992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3127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9C6B3"/>
                </a:solidFill>
                <a:latin typeface="DM Sans"/>
              </a:rPr>
              <a:t>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3410712"/>
            <a:ext cx="585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1A7B8"/>
                </a:solidFill>
                <a:latin typeface="DM Sans"/>
              </a:rPr>
              <a:t>SQS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08376" y="3429000"/>
            <a:ext cx="402336" cy="0"/>
          </a:xfrm>
          <a:prstGeom prst="line">
            <a:avLst/>
          </a:prstGeom>
          <a:ln w="1524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19856" y="2523744"/>
            <a:ext cx="141732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7016" y="2642615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" b="1">
                <a:solidFill>
                  <a:srgbClr val="F3F7FA"/>
                </a:solidFill>
                <a:latin typeface="DM Sans"/>
              </a:rPr>
              <a:t>ANALYST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9856" y="3127248"/>
            <a:ext cx="141732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7016" y="3246120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" b="1">
                <a:solidFill>
                  <a:srgbClr val="F3F7FA"/>
                </a:solidFill>
                <a:latin typeface="DM Sans"/>
              </a:rPr>
              <a:t>POLICY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9856" y="3730752"/>
            <a:ext cx="141732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57016" y="3849624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" b="1">
                <a:solidFill>
                  <a:srgbClr val="F3F7FA"/>
                </a:solidFill>
                <a:latin typeface="DM Sans"/>
              </a:rPr>
              <a:t>SUITABILITY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9856" y="4334256"/>
            <a:ext cx="141732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7016" y="445312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" b="1">
                <a:solidFill>
                  <a:srgbClr val="F3F7FA"/>
                </a:solidFill>
                <a:latin typeface="DM Sans"/>
              </a:rPr>
              <a:t>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5029200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1A7B8"/>
                </a:solidFill>
                <a:latin typeface="DM Sans"/>
              </a:rPr>
              <a:t>TARGET WORKERS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" y="4663440"/>
            <a:ext cx="2203704" cy="49377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4818888"/>
            <a:ext cx="191109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7D49B"/>
                </a:solidFill>
                <a:latin typeface="DM Sans"/>
              </a:rPr>
              <a:t>STATE AFTER EACH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9856" y="4663440"/>
            <a:ext cx="1417320" cy="49377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4818888"/>
            <a:ext cx="11978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4B942"/>
                </a:solidFill>
                <a:latin typeface="DM Sans"/>
              </a:rPr>
              <a:t>BOUNDED DATA RETRY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294376"/>
            <a:ext cx="40599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0">
                <a:solidFill>
                  <a:srgbClr val="91A7B8"/>
                </a:solidFill>
                <a:latin typeface="DM Sans"/>
              </a:rPr>
              <a:t>Prototype: isolated graph + explicit state • Target: queue workers + backpressure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2219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9C6B3"/>
                </a:solidFill>
                <a:latin typeface="DM Sans"/>
              </a:rPr>
              <a:t>VALUE HYPOTHESES • MEASURE IN PILOT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2542032"/>
            <a:ext cx="2459736" cy="1188720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91072" y="2734056"/>
            <a:ext cx="109728" cy="109728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2734056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68833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9C6B3"/>
                </a:solidFill>
                <a:latin typeface="DM Sans"/>
              </a:rPr>
              <a:t>FASTER DECISIONS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3017520"/>
            <a:ext cx="2075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3F7FA"/>
                </a:solidFill>
                <a:latin typeface="DM Sans"/>
              </a:rPr>
              <a:t>Target: parallel reviews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3383279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1A7B8"/>
                </a:solidFill>
                <a:latin typeface="DM Sans"/>
              </a:rPr>
              <a:t>Measure: p50 / p95 cycle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14816" y="2542032"/>
            <a:ext cx="2459736" cy="1188720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79408" y="2734056"/>
            <a:ext cx="109728" cy="10972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9408" y="2734056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68833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57D49B"/>
                </a:solidFill>
                <a:latin typeface="DM Sans"/>
              </a:rPr>
              <a:t>EXPERT CAPACITY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9408" y="3017520"/>
            <a:ext cx="2075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3F7FA"/>
                </a:solidFill>
                <a:latin typeface="DM Sans"/>
              </a:rPr>
              <a:t>Exceptions—not re-keying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9408" y="3383279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1A7B8"/>
                </a:solidFill>
                <a:latin typeface="DM Sans"/>
              </a:rPr>
              <a:t>Measure: human touch-hours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26480" y="3968496"/>
            <a:ext cx="2459736" cy="1188720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91072" y="4160520"/>
            <a:ext cx="109728" cy="109728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4160520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41148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F4B942"/>
                </a:solidFill>
                <a:latin typeface="DM Sans"/>
              </a:rPr>
              <a:t>CONTROL CONSISTENCY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4443983"/>
            <a:ext cx="2075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3F7FA"/>
                </a:solidFill>
                <a:latin typeface="DM Sans"/>
              </a:rPr>
              <a:t>One versioned policy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2" y="4809744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1A7B8"/>
                </a:solidFill>
                <a:latin typeface="DM Sans"/>
              </a:rPr>
              <a:t>Measure: concordance / defects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14816" y="3968496"/>
            <a:ext cx="2459736" cy="1188720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79408" y="4160520"/>
            <a:ext cx="109728" cy="109728"/>
          </a:xfrm>
          <a:prstGeom prst="ellipse">
            <a:avLst/>
          </a:prstGeom>
          <a:solidFill>
            <a:srgbClr val="58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79408" y="4160520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41148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58A6D6"/>
                </a:solidFill>
                <a:latin typeface="DM Sans"/>
              </a:rPr>
              <a:t>AUDIT READINESS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79408" y="4443983"/>
            <a:ext cx="2075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3F7FA"/>
                </a:solidFill>
                <a:latin typeface="DM Sans"/>
              </a:rPr>
              <a:t>Reconstructable evidence trace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79408" y="4809744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1A7B8"/>
                </a:solidFill>
                <a:latin typeface="DM Sans"/>
              </a:rPr>
              <a:t>Measure: packet reconstruction time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5413248"/>
            <a:ext cx="5148072" cy="512064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5577840"/>
            <a:ext cx="47274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C6B3"/>
                </a:solidFill>
                <a:latin typeface="DM Sans"/>
              </a:rPr>
              <a:t>Design separates policy packs from prompts and model releases.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ROI +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3344" y="310896"/>
            <a:ext cx="914400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6496" y="31546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3DCE4"/>
                </a:solidFill>
                <a:latin typeface="DM Sans"/>
              </a:rPr>
              <a:t>2:30–3:00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3F7FA"/>
                </a:solidFill>
                <a:latin typeface="Manrope"/>
              </a:rPr>
              <a:t>Earn autonomy one gate at a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Begin in shadow mode, measure safety and value, then widen only the scopes that prove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002536"/>
            <a:ext cx="4718304" cy="349300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221992"/>
            <a:ext cx="2450592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26564"/>
            <a:ext cx="23042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>
                <a:solidFill>
                  <a:srgbClr val="F4B942"/>
                </a:solidFill>
                <a:latin typeface="DM Sans"/>
              </a:rPr>
              <a:t>ILLUSTRATIVE • NOT A TIAA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6883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9C6B3"/>
                </a:solidFill>
                <a:latin typeface="Manrope"/>
              </a:rPr>
              <a:t>$2.20M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821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gross annual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688336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3F7FA"/>
                </a:solidFill>
                <a:latin typeface="Manrope"/>
              </a:rPr>
              <a:t>$1.25M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82112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1A7B8"/>
                </a:solidFill>
                <a:latin typeface="DM Sans"/>
              </a:rPr>
              <a:t>year-1 cost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" y="3575304"/>
            <a:ext cx="4197096" cy="0"/>
          </a:xfrm>
          <a:prstGeom prst="line">
            <a:avLst/>
          </a:prstGeom>
          <a:ln w="10160">
            <a:solidFill>
              <a:srgbClr val="2541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384" y="3794760"/>
            <a:ext cx="1581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F4B942"/>
                </a:solidFill>
                <a:latin typeface="Manrope"/>
              </a:rPr>
              <a:t>75.8%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1581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year-1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794760"/>
            <a:ext cx="1581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57D49B"/>
                </a:solidFill>
                <a:latin typeface="Manrope"/>
              </a:rPr>
              <a:t>5.7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233672"/>
            <a:ext cx="1581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1A7B8"/>
                </a:solidFill>
                <a:latin typeface="DM Sans"/>
              </a:rPr>
              <a:t>simplified payback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4672584"/>
            <a:ext cx="4187952" cy="521207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846320"/>
            <a:ext cx="3822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D3DCE4"/>
                </a:solidFill>
                <a:latin typeface="DM Sans"/>
              </a:rPr>
              <a:t>5,000 cases × 8h × $95 × 55% + rework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5294376"/>
            <a:ext cx="413308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91A7B8"/>
                </a:solidFill>
                <a:latin typeface="DM Sans"/>
              </a:rPr>
              <a:t>Replace every assumption with shadow-pilot measurements.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222199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PROPOSED MODULAR ADOPTION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92040"/>
            <a:ext cx="987552" cy="71323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33288" y="5020055"/>
            <a:ext cx="246888" cy="246888"/>
          </a:xfrm>
          <a:prstGeom prst="ellipse">
            <a:avLst/>
          </a:prstGeom>
          <a:solidFill>
            <a:srgbClr val="25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33288" y="5020055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D3DCE4"/>
                </a:solidFill>
                <a:latin typeface="DM San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5221224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1A7B8"/>
                </a:solidFill>
                <a:latin typeface="DM Sans"/>
              </a:rPr>
              <a:t>DISCOVER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5856" y="542239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1A7B8"/>
                </a:solidFill>
                <a:latin typeface="DM Sans"/>
              </a:rPr>
              <a:t>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8272" y="4544568"/>
            <a:ext cx="987552" cy="106070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0" y="4672583"/>
            <a:ext cx="246888" cy="246888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672583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873752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9C6B3"/>
                </a:solidFill>
                <a:latin typeface="DM Sans"/>
              </a:rPr>
              <a:t>SHADOW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542239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1A7B8"/>
                </a:solidFill>
                <a:latin typeface="DM Sans"/>
              </a:rPr>
              <a:t>4–6 weeks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72983" y="4197096"/>
            <a:ext cx="987552" cy="140817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58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82711" y="4325112"/>
            <a:ext cx="246888" cy="246888"/>
          </a:xfrm>
          <a:prstGeom prst="ellipse">
            <a:avLst/>
          </a:prstGeom>
          <a:solidFill>
            <a:srgbClr val="58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2711" y="4325112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1" y="45262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8A6D6"/>
                </a:solidFill>
                <a:latin typeface="DM Sans"/>
              </a:rPr>
              <a:t>ASSISTED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42239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1A7B8"/>
                </a:solidFill>
                <a:latin typeface="DM Sans"/>
              </a:rPr>
              <a:t>human final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97696" y="3849624"/>
            <a:ext cx="987552" cy="1755648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07424" y="3977639"/>
            <a:ext cx="246888" cy="246888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3977639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424" y="4178808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4B942"/>
                </a:solidFill>
                <a:latin typeface="DM Sans"/>
              </a:rPr>
              <a:t>SCOPED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9992" y="542239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1A7B8"/>
                </a:solidFill>
                <a:latin typeface="DM Sans"/>
              </a:rPr>
              <a:t>low-risk only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22408" y="3502151"/>
            <a:ext cx="987552" cy="2103120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32136" y="3630168"/>
            <a:ext cx="246888" cy="24688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32136" y="3630168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071321"/>
                </a:solidFill>
                <a:latin typeface="DM San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2136" y="3831335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7D49B"/>
                </a:solidFill>
                <a:latin typeface="DM Sans"/>
              </a:rPr>
              <a:t>REUSE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04704" y="5422391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1A7B8"/>
                </a:solidFill>
                <a:latin typeface="DM Sans"/>
              </a:rPr>
              <a:t>new policy packs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23560" y="5705856"/>
            <a:ext cx="5632704" cy="493776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07024" y="5833872"/>
            <a:ext cx="5065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30" b="1">
                <a:solidFill>
                  <a:srgbClr val="F3F7FA"/>
                </a:solidFill>
                <a:latin typeface="Manrope"/>
              </a:rPr>
              <a:t>Target: faster decisions. Visible controls. Proof attached.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PRODUCTION TARGET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38944" y="310896"/>
            <a:ext cx="786384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6" y="3154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F4B942"/>
                </a:solidFill>
                <a:latin typeface="DM Sans"/>
              </a:rPr>
              <a:t>BACKUP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3F7FA"/>
                </a:solidFill>
                <a:latin typeface="Manrope"/>
              </a:rPr>
              <a:t>One orchestration authority. Many bounded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Production target—not deployed locally: LangGraph lifecycle, Bedrock language and policy-as-code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6488" y="310896"/>
            <a:ext cx="1078992" cy="310896"/>
          </a:xfrm>
          <a:prstGeom prst="roundRect">
            <a:avLst/>
          </a:prstGeom>
          <a:solidFill>
            <a:srgbClr val="2A171D"/>
          </a:solidFill>
          <a:ln w="12700">
            <a:solidFill>
              <a:srgbClr val="753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15468"/>
            <a:ext cx="9326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6B6B"/>
                </a:solidFill>
                <a:latin typeface="DM Sans"/>
              </a:rPr>
              <a:t>NOT DEPLOYED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130552"/>
            <a:ext cx="1353312" cy="7680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31343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STREAMLIT / 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569464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91A7B8"/>
                </a:solidFill>
                <a:latin typeface="DM Sans"/>
              </a:rPr>
              <a:t>guided 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9696" y="2130552"/>
            <a:ext cx="1353312" cy="7680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31343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API +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2569464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91A7B8"/>
                </a:solidFill>
                <a:latin typeface="DM Sans"/>
              </a:rPr>
              <a:t>gateway • 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130552"/>
            <a:ext cx="1353312" cy="7680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79" y="231343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SQS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79" y="2569464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91A7B8"/>
                </a:solidFill>
                <a:latin typeface="DM Sans"/>
              </a:rPr>
              <a:t>backpressure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83664" y="2514600"/>
            <a:ext cx="256032" cy="0"/>
          </a:xfrm>
          <a:prstGeom prst="line">
            <a:avLst/>
          </a:prstGeom>
          <a:ln w="1905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01952" y="2359152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93008" y="2514600"/>
            <a:ext cx="256031" cy="0"/>
          </a:xfrm>
          <a:prstGeom prst="line">
            <a:avLst/>
          </a:prstGeom>
          <a:ln w="1905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11296" y="2359152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02352" y="2514600"/>
            <a:ext cx="301752" cy="0"/>
          </a:xfrm>
          <a:prstGeom prst="line">
            <a:avLst/>
          </a:prstGeom>
          <a:ln w="19050">
            <a:solidFill>
              <a:srgbClr val="19C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8928" y="2359152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9C6B3"/>
                </a:solidFill>
                <a:latin typeface="DM San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3248" y="1993392"/>
            <a:ext cx="4050791" cy="3447288"/>
          </a:xfrm>
          <a:prstGeom prst="roundRect">
            <a:avLst/>
          </a:prstGeom>
          <a:solidFill>
            <a:srgbClr val="0A1A2A"/>
          </a:solidFill>
          <a:ln w="15875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0136" y="2185416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C6B3"/>
                </a:solidFill>
                <a:latin typeface="DM Sans"/>
              </a:rPr>
              <a:t>LANGGRAPH CONTROL PLANE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71816" y="2130552"/>
            <a:ext cx="1517904" cy="3108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44968" y="213512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91A7B8"/>
                </a:solidFill>
                <a:latin typeface="DM Sans"/>
              </a:rPr>
              <a:t>ECS / AGENTCORE ADAPTER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0136" y="2615184"/>
            <a:ext cx="1078992" cy="5303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7296" y="2798064"/>
            <a:ext cx="804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3F7FA"/>
                </a:solidFill>
                <a:latin typeface="DM Sans"/>
              </a:rPr>
              <a:t>PREFLIGHT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39128" y="2880360"/>
            <a:ext cx="256032" cy="0"/>
          </a:xfrm>
          <a:prstGeom prst="line">
            <a:avLst/>
          </a:prstGeom>
          <a:ln w="1905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48272" y="2724912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04304" y="2615184"/>
            <a:ext cx="1152144" cy="530352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6" y="279806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9C6B3"/>
                </a:solidFill>
                <a:latin typeface="DM Sans"/>
              </a:rPr>
              <a:t>1 · ANALYST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50992" y="3401568"/>
            <a:ext cx="155448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58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529584"/>
            <a:ext cx="12618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58A6D6"/>
                </a:solidFill>
                <a:latin typeface="DM Sans"/>
              </a:rPr>
              <a:t>2 · COMPLIANCE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205472" y="3611880"/>
            <a:ext cx="320040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650992" y="3968496"/>
            <a:ext cx="155448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97296" y="4096511"/>
            <a:ext cx="12618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57D49B"/>
                </a:solidFill>
                <a:latin typeface="DM Sans"/>
              </a:rPr>
              <a:t>3 · GOVERNANCE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05472" y="4178808"/>
            <a:ext cx="320040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650992" y="4535424"/>
            <a:ext cx="1554480" cy="42062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7296" y="4663440"/>
            <a:ext cx="12618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4B942"/>
                </a:solidFill>
                <a:latin typeface="DM Sans"/>
              </a:rPr>
              <a:t>4 · FINANCE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05472" y="4745736"/>
            <a:ext cx="320040" cy="0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16368" y="2880360"/>
            <a:ext cx="0" cy="1865376"/>
          </a:xfrm>
          <a:prstGeom prst="line">
            <a:avLst/>
          </a:prstGeom>
          <a:ln w="1270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790688" y="3401568"/>
            <a:ext cx="1399032" cy="67665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46136" y="3547872"/>
            <a:ext cx="10881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F3F7FA"/>
                </a:solidFill>
                <a:latin typeface="DM Sans"/>
              </a:rPr>
              <a:t>POLICY +
RECONCILE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485632" y="4078224"/>
            <a:ext cx="0" cy="219456"/>
          </a:xfrm>
          <a:prstGeom prst="line">
            <a:avLst/>
          </a:prstGeom>
          <a:ln w="1905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85048" y="4123944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90688" y="4315968"/>
            <a:ext cx="1399032" cy="630936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6992" y="4553712"/>
            <a:ext cx="11064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9C6B3"/>
                </a:solidFill>
                <a:latin typeface="DM Sans"/>
              </a:rPr>
              <a:t>5 · SPONSOR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22008" y="5047488"/>
            <a:ext cx="2267712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5052059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4B942"/>
                </a:solidFill>
                <a:latin typeface="DM Sans"/>
              </a:rPr>
              <a:t>FINAL GATE → COMPLETE / HITL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11512" y="2057400"/>
            <a:ext cx="1856231" cy="60350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976104" y="2221992"/>
            <a:ext cx="109728" cy="109728"/>
          </a:xfrm>
          <a:prstGeom prst="ellipse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76104" y="2221992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22992" y="2167128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BEDROCK RUNTIME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2386584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1A7B8"/>
                </a:solidFill>
                <a:latin typeface="DM Sans"/>
              </a:rPr>
              <a:t>bounded narrative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11512" y="2834640"/>
            <a:ext cx="1856231" cy="60350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976104" y="2999232"/>
            <a:ext cx="109728" cy="109728"/>
          </a:xfrm>
          <a:prstGeom prst="ellipse">
            <a:avLst/>
          </a:prstGeom>
          <a:solidFill>
            <a:srgbClr val="58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76104" y="2999232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2944368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LAMBDA TOOLS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22992" y="3163824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1A7B8"/>
                </a:solidFill>
                <a:latin typeface="DM Sans"/>
              </a:rPr>
              <a:t>allowlisted • read-mostly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11512" y="3611880"/>
            <a:ext cx="1856231" cy="60350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976104" y="3776472"/>
            <a:ext cx="109728" cy="109728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76104" y="3776472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22992" y="3721608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S3 / KNOWLEDGE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22992" y="3941064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1A7B8"/>
                </a:solidFill>
                <a:latin typeface="DM Sans"/>
              </a:rPr>
              <a:t>evidence snapshot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811512" y="4389120"/>
            <a:ext cx="1856231" cy="603504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976104" y="4553712"/>
            <a:ext cx="109728" cy="109728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76104" y="4553712"/>
            <a:ext cx="109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22992" y="4498848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1">
                <a:solidFill>
                  <a:srgbClr val="F3F7FA"/>
                </a:solidFill>
                <a:latin typeface="DM Sans"/>
              </a:rPr>
              <a:t>POSTGRES / DDB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22992" y="4718304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1A7B8"/>
                </a:solidFill>
                <a:latin typeface="DM Sans"/>
              </a:rPr>
              <a:t>state + checkpoints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0352" y="5705856"/>
            <a:ext cx="11137392" cy="402336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8952" y="5833872"/>
            <a:ext cx="9326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9C6B3"/>
                </a:solidFill>
                <a:latin typeface="DM Sans"/>
              </a:rPr>
              <a:t>LOCAL → TARGET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18488" y="5815584"/>
            <a:ext cx="413308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D3DCE4"/>
                </a:solidFill>
                <a:latin typeface="DM Sans"/>
              </a:rPr>
              <a:t>JSONL + SHA-256 chain → production S3 Object Lock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1112" y="5815584"/>
            <a:ext cx="4736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91A7B8"/>
                </a:solidFill>
                <a:latin typeface="DM Sans"/>
              </a:rPr>
              <a:t>Target: CloudWatch • OpenTelemetry • cost / latency / safety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FAILURE + HALLUCINATION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38944" y="310896"/>
            <a:ext cx="786384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6" y="3154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F4B942"/>
                </a:solidFill>
                <a:latin typeface="DM Sans"/>
              </a:rPr>
              <a:t>BACKUP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3F7FA"/>
                </a:solidFill>
                <a:latin typeface="Manrope"/>
              </a:rPr>
              <a:t>Assume hallucinations. Remove their authority.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Every risky output must survive provenance, schema, deterministic checks and a bounded route.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58568" y="2441448"/>
            <a:ext cx="576072" cy="0"/>
          </a:xfrm>
          <a:prstGeom prst="line">
            <a:avLst/>
          </a:prstGeom>
          <a:ln w="1651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77440" y="22860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2441448"/>
            <a:ext cx="576072" cy="0"/>
          </a:xfrm>
          <a:prstGeom prst="line">
            <a:avLst/>
          </a:prstGeom>
          <a:ln w="1651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45152" y="22860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93992" y="2441448"/>
            <a:ext cx="576072" cy="0"/>
          </a:xfrm>
          <a:prstGeom prst="line">
            <a:avLst/>
          </a:prstGeom>
          <a:ln w="1651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12864" y="22860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61704" y="2441448"/>
            <a:ext cx="576072" cy="0"/>
          </a:xfrm>
          <a:prstGeom prst="line">
            <a:avLst/>
          </a:prstGeom>
          <a:ln w="16510">
            <a:solidFill>
              <a:srgbClr val="4865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80576" y="22860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91A7B8"/>
                </a:solidFill>
                <a:latin typeface="DM San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075688"/>
            <a:ext cx="1691640" cy="7589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2249424"/>
            <a:ext cx="1380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1">
                <a:solidFill>
                  <a:srgbClr val="FF6B6B"/>
                </a:solidFill>
                <a:latin typeface="DM Sans"/>
              </a:rPr>
              <a:t>UNTRUSTED
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2075688"/>
            <a:ext cx="1691640" cy="7589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19C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2249424"/>
            <a:ext cx="1380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1">
                <a:solidFill>
                  <a:srgbClr val="19C6B3"/>
                </a:solidFill>
                <a:latin typeface="DM Sans"/>
              </a:rPr>
              <a:t>HASHED
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2352" y="2075688"/>
            <a:ext cx="1691640" cy="7589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58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2249424"/>
            <a:ext cx="1380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1">
                <a:solidFill>
                  <a:srgbClr val="58A6D6"/>
                </a:solidFill>
                <a:latin typeface="DM Sans"/>
              </a:rPr>
              <a:t>CODE
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0064" y="2075688"/>
            <a:ext cx="1691640" cy="7589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2" y="2249424"/>
            <a:ext cx="1380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1">
                <a:solidFill>
                  <a:srgbClr val="F4B942"/>
                </a:solidFill>
                <a:latin typeface="DM Sans"/>
              </a:rPr>
              <a:t>RETRY ≤2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2075688"/>
            <a:ext cx="1691640" cy="758952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57D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3224" y="2249424"/>
            <a:ext cx="1380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1">
                <a:solidFill>
                  <a:srgbClr val="57D49B"/>
                </a:solidFill>
                <a:latin typeface="DM Sans"/>
              </a:rPr>
              <a:t>HUMAN /
SAFE STOP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182112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2376" y="3337560"/>
            <a:ext cx="621792" cy="310896"/>
          </a:xfrm>
          <a:prstGeom prst="roundRect">
            <a:avLst/>
          </a:prstGeom>
          <a:solidFill>
            <a:srgbClr val="2A171D"/>
          </a:solidFill>
          <a:ln w="12700">
            <a:solidFill>
              <a:srgbClr val="753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334213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6B6B"/>
                </a:solidFill>
                <a:latin typeface="DM Sans"/>
              </a:rPr>
              <a:t>BLANK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9616" y="3355848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Invented missing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49039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721608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typed null + source hash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59736" y="3749039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3721608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retrieve twice →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3182112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71416" y="3337560"/>
            <a:ext cx="621792" cy="310896"/>
          </a:xfrm>
          <a:prstGeom prst="roundRect">
            <a:avLst/>
          </a:prstGeom>
          <a:solidFill>
            <a:srgbClr val="2A171D"/>
          </a:solidFill>
          <a:ln w="12700">
            <a:solidFill>
              <a:srgbClr val="753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334213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6B6B"/>
                </a:solidFill>
                <a:latin typeface="DM Sans"/>
              </a:rPr>
              <a:t>INJX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48656" y="3355848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Prompt injection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3749039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721608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input scanner + boundary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5" y="3749039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3721608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isolate content → human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5007" y="3182112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0455" y="3337560"/>
            <a:ext cx="621792" cy="3108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93607" y="334213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1A7B8"/>
                </a:solidFill>
                <a:latin typeface="DM Sans"/>
              </a:rPr>
              <a:t>STALE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7695" y="3355848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Wrong / stale rule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9" y="3749039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39" y="3721608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hash + effective 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7815" y="3749039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97311" y="3721608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safe stop → approved pack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4407408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22376" y="4562856"/>
            <a:ext cx="621792" cy="310896"/>
          </a:xfrm>
          <a:prstGeom prst="roundRect">
            <a:avLst/>
          </a:prstGeom>
          <a:solidFill>
            <a:srgbClr val="2A171D"/>
          </a:solidFill>
          <a:ln w="12700">
            <a:solidFill>
              <a:srgbClr val="753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456742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6B6B"/>
                </a:solidFill>
                <a:latin typeface="DM Sans"/>
              </a:rPr>
              <a:t>CONFX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99616" y="4581144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Conflicting values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97433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4946904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field reconciliation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59736" y="497433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9232" y="4946904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preserve both → escalate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15968" y="4407408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471416" y="4562856"/>
            <a:ext cx="621792" cy="3108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44568" y="456742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1A7B8"/>
                </a:solidFill>
                <a:latin typeface="DM Sans"/>
              </a:rPr>
              <a:t>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48656" y="4581144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Math / unit error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0559" y="497433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946904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Decimal + basis points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08775" y="497433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8272" y="4946904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ignore prose arithmetic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65007" y="4407408"/>
            <a:ext cx="3474720" cy="1024128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220455" y="4562856"/>
            <a:ext cx="621792" cy="310896"/>
          </a:xfrm>
          <a:prstGeom prst="roundRect">
            <a:avLst/>
          </a:prstGeom>
          <a:solidFill>
            <a:srgbClr val="0D2033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3607" y="456742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1A7B8"/>
                </a:solidFill>
                <a:latin typeface="DM Sans"/>
              </a:rPr>
              <a:t>AUDIT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97695" y="4581144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3F7FA"/>
                </a:solidFill>
                <a:latin typeface="DM Sans"/>
              </a:rPr>
              <a:t>Audit commit fails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599" y="497433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9C6B3"/>
                </a:solidFill>
                <a:latin typeface="DM Sans"/>
              </a:rPr>
              <a:t>DETECT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39" y="4946904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91A7B8"/>
                </a:solidFill>
                <a:latin typeface="DM Sans"/>
              </a:rPr>
              <a:t>hash-chain verification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57815" y="497433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F4B942"/>
                </a:solidFill>
                <a:latin typeface="DM Sans"/>
              </a:rPr>
              <a:t>RESPOND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97311" y="4946904"/>
            <a:ext cx="8595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10" b="0">
                <a:solidFill>
                  <a:srgbClr val="91A7B8"/>
                </a:solidFill>
                <a:latin typeface="DM Sans"/>
              </a:rPr>
              <a:t>no final recommendation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5705856"/>
            <a:ext cx="10991088" cy="384048"/>
          </a:xfrm>
          <a:prstGeom prst="roundRect">
            <a:avLst/>
          </a:prstGeom>
          <a:solidFill>
            <a:srgbClr val="102D41"/>
          </a:solidFill>
          <a:ln w="12700">
            <a:solidFill>
              <a:srgbClr val="28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3816" y="5779008"/>
            <a:ext cx="104973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4B942"/>
                </a:solidFill>
                <a:latin typeface="DM Sans"/>
              </a:rPr>
              <a:t>Five agents agreeing is not evidence. </a:t>
            </a:r>
            <a:r>
              <a:rPr sz="950" b="0">
                <a:solidFill>
                  <a:srgbClr val="D3DCE4"/>
                </a:solidFill>
                <a:latin typeface="DM Sans"/>
              </a:rPr>
              <a:t>Independence comes from approved sources, deterministic tools and labeled adversarial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417320"/>
            <a:ext cx="3840480" cy="3840480"/>
          </a:xfrm>
          <a:prstGeom prst="ellipse">
            <a:avLst/>
          </a:prstGeom>
          <a:noFill/>
          <a:ln w="13970">
            <a:solidFill>
              <a:srgbClr val="12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749808"/>
            <a:ext cx="2240280" cy="2240280"/>
          </a:xfrm>
          <a:prstGeom prst="ellipse">
            <a:avLst/>
          </a:prstGeom>
          <a:noFill/>
          <a:ln w="13970">
            <a:solidFill>
              <a:srgbClr val="1B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310896"/>
            <a:ext cx="320040" cy="32004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3063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71321"/>
                </a:solidFill>
                <a:latin typeface="Manrop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3383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F7FA"/>
                </a:solidFill>
                <a:latin typeface="Manrope"/>
              </a:rPr>
              <a:t>FIDUCIA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EXACT HITL GATES +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38944" y="310896"/>
            <a:ext cx="786384" cy="3108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6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6" y="3154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F4B942"/>
                </a:solidFill>
                <a:latin typeface="DM Sans"/>
              </a:rPr>
              <a:t>BACKUP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" y="6556248"/>
            <a:ext cx="11192256" cy="0"/>
          </a:xfrm>
          <a:prstGeom prst="line">
            <a:avLst/>
          </a:prstGeom>
          <a:ln w="10160">
            <a:solidFill>
              <a:srgbClr val="1B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" y="6620256"/>
            <a:ext cx="9052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7890A2"/>
                </a:solidFill>
                <a:latin typeface="DM Sans"/>
              </a:rPr>
              <a:t>PROTOTYPE • SYNTHETIC DATA • ILLUSTRATIVE POLICY • NOT LEGAL OR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92824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41248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3F7FA"/>
                </a:solidFill>
                <a:latin typeface="Manrope"/>
              </a:rPr>
              <a:t>Autonomy is earned by explicit 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1A7B8"/>
                </a:solidFill>
                <a:latin typeface="DM Sans"/>
              </a:rPr>
              <a:t>Demo defaults are configurable illustrative policy—not statements of law.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956816"/>
            <a:ext cx="2843784" cy="3968496"/>
          </a:xfrm>
          <a:prstGeom prst="roundRect">
            <a:avLst/>
          </a:prstGeom>
          <a:solidFill>
            <a:srgbClr val="0D282E"/>
          </a:solidFill>
          <a:ln w="12700">
            <a:solidFill>
              <a:srgbClr val="2D8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85416"/>
            <a:ext cx="21122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57D49B"/>
                </a:solidFill>
                <a:latin typeface="Manrope"/>
              </a:rPr>
              <a:t>AUTO-COMPLETE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96312"/>
            <a:ext cx="1581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ALL must pass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2935224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935224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2862072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Recommendation = APPROVE</a:t>
            </a:r>
          </a:p>
        </p:txBody>
      </p:sp>
      <p:sp>
        <p:nvSpPr>
          <p:cNvPr id="21" name="Oval 20"/>
          <p:cNvSpPr/>
          <p:nvPr/>
        </p:nvSpPr>
        <p:spPr>
          <a:xfrm>
            <a:off x="795528" y="3355848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355848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282696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Confidence ≥ 0.90</a:t>
            </a:r>
          </a:p>
        </p:txBody>
      </p:sp>
      <p:sp>
        <p:nvSpPr>
          <p:cNvPr id="24" name="Oval 23"/>
          <p:cNvSpPr/>
          <p:nvPr/>
        </p:nvSpPr>
        <p:spPr>
          <a:xfrm>
            <a:off x="795528" y="3776472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776472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703320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Risk ≤ 24 / 100</a:t>
            </a:r>
          </a:p>
        </p:txBody>
      </p:sp>
      <p:sp>
        <p:nvSpPr>
          <p:cNvPr id="27" name="Oval 26"/>
          <p:cNvSpPr/>
          <p:nvPr/>
        </p:nvSpPr>
        <p:spPr>
          <a:xfrm>
            <a:off x="795528" y="4197096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197096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4123944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&gt; 5 bps from internal cap</a:t>
            </a:r>
          </a:p>
        </p:txBody>
      </p:sp>
      <p:sp>
        <p:nvSpPr>
          <p:cNvPr id="30" name="Oval 29"/>
          <p:cNvSpPr/>
          <p:nvPr/>
        </p:nvSpPr>
        <p:spPr>
          <a:xfrm>
            <a:off x="795528" y="4617720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617720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4544568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No hard stop / missing / conflict / injection</a:t>
            </a:r>
          </a:p>
        </p:txBody>
      </p:sp>
      <p:sp>
        <p:nvSpPr>
          <p:cNvPr id="33" name="Oval 32"/>
          <p:cNvSpPr/>
          <p:nvPr/>
        </p:nvSpPr>
        <p:spPr>
          <a:xfrm>
            <a:off x="795528" y="5038344"/>
            <a:ext cx="82296" cy="82296"/>
          </a:xfrm>
          <a:prstGeom prst="ellipse">
            <a:avLst/>
          </a:prstGeom>
          <a:solidFill>
            <a:srgbClr val="57D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038344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965192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D3DCE4"/>
                </a:solidFill>
                <a:latin typeface="DM Sans"/>
              </a:rPr>
              <a:t>All agent + audit events committed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" y="5477256"/>
            <a:ext cx="2267712" cy="310896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D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81828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7D49B"/>
                </a:solidFill>
                <a:latin typeface="DM Sans"/>
              </a:rPr>
              <a:t>RECOMMENDATION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75304" y="1956816"/>
            <a:ext cx="3236976" cy="3968496"/>
          </a:xfrm>
          <a:prstGeom prst="roundRect">
            <a:avLst/>
          </a:prstGeom>
          <a:solidFill>
            <a:srgbClr val="2B2515"/>
          </a:solidFill>
          <a:ln w="12700">
            <a:solidFill>
              <a:srgbClr val="7E6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22191" y="2185416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4B942"/>
                </a:solidFill>
                <a:latin typeface="Manrope"/>
              </a:rPr>
              <a:t>HUMAN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2191" y="2496312"/>
            <a:ext cx="1581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1A7B8"/>
                </a:solidFill>
                <a:latin typeface="DM Sans"/>
              </a:rPr>
              <a:t>ANY one triggers</a:t>
            </a:r>
          </a:p>
        </p:txBody>
      </p:sp>
      <p:sp>
        <p:nvSpPr>
          <p:cNvPr id="41" name="Oval 40"/>
          <p:cNvSpPr/>
          <p:nvPr/>
        </p:nvSpPr>
        <p:spPr>
          <a:xfrm>
            <a:off x="3840480" y="2935224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2935224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216" y="2862072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Any non-APPROVE recommendation</a:t>
            </a:r>
          </a:p>
        </p:txBody>
      </p:sp>
      <p:sp>
        <p:nvSpPr>
          <p:cNvPr id="44" name="Oval 43"/>
          <p:cNvSpPr/>
          <p:nvPr/>
        </p:nvSpPr>
        <p:spPr>
          <a:xfrm>
            <a:off x="3840480" y="3291840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3291840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4216" y="3218688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Confidence &lt; 0.85*</a:t>
            </a:r>
          </a:p>
        </p:txBody>
      </p:sp>
      <p:sp>
        <p:nvSpPr>
          <p:cNvPr id="47" name="Oval 46"/>
          <p:cNvSpPr/>
          <p:nvPr/>
        </p:nvSpPr>
        <p:spPr>
          <a:xfrm>
            <a:off x="3840480" y="3648456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3648456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14216" y="3575304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Risk ≥ 40 / 100</a:t>
            </a:r>
          </a:p>
        </p:txBody>
      </p:sp>
      <p:sp>
        <p:nvSpPr>
          <p:cNvPr id="50" name="Oval 49"/>
          <p:cNvSpPr/>
          <p:nvPr/>
        </p:nvSpPr>
        <p:spPr>
          <a:xfrm>
            <a:off x="3840480" y="4005072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0" y="4005072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4216" y="3931920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Fee within ±5 bps</a:t>
            </a:r>
          </a:p>
        </p:txBody>
      </p:sp>
      <p:sp>
        <p:nvSpPr>
          <p:cNvPr id="53" name="Oval 52"/>
          <p:cNvSpPr/>
          <p:nvPr/>
        </p:nvSpPr>
        <p:spPr>
          <a:xfrm>
            <a:off x="3840480" y="4361688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0" y="4361688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14216" y="4288536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Missing after 2 / 2 retries</a:t>
            </a:r>
          </a:p>
        </p:txBody>
      </p:sp>
      <p:sp>
        <p:nvSpPr>
          <p:cNvPr id="56" name="Oval 55"/>
          <p:cNvSpPr/>
          <p:nvPr/>
        </p:nvSpPr>
        <p:spPr>
          <a:xfrm>
            <a:off x="3840480" y="4718304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0" y="4718304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4216" y="4645152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Conflict, product scope or injection</a:t>
            </a:r>
          </a:p>
        </p:txBody>
      </p:sp>
      <p:sp>
        <p:nvSpPr>
          <p:cNvPr id="59" name="Oval 58"/>
          <p:cNvSpPr/>
          <p:nvPr/>
        </p:nvSpPr>
        <p:spPr>
          <a:xfrm>
            <a:off x="3840480" y="5074920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0" y="5074920"/>
            <a:ext cx="82296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71321"/>
                </a:solidFill>
                <a:latin typeface="DM Sans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4216" y="5001768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D3DCE4"/>
                </a:solidFill>
                <a:latin typeface="DM Sans"/>
              </a:rPr>
              <a:t>Hard stop or positive sales load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5532120"/>
            <a:ext cx="2642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91A7B8"/>
                </a:solidFill>
                <a:latin typeface="DM Sans"/>
              </a:rPr>
              <a:t>*0.85–0.89 cannot auto-complete; routing remains policy-controlled.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2011680"/>
            <a:ext cx="2231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9C6B3"/>
                </a:solidFill>
                <a:latin typeface="DM Sans"/>
              </a:rPr>
              <a:t>TOP JUDGE QUESTIONS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2320" y="2359152"/>
            <a:ext cx="4416552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42631" y="2505456"/>
            <a:ext cx="4005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C6B3"/>
                </a:solidFill>
                <a:latin typeface="DM Sans"/>
              </a:rPr>
              <a:t>01  How do you prevent hallucinations?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2631" y="2779776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D3DCE4"/>
                </a:solidFill>
                <a:latin typeface="DM Sans"/>
              </a:rPr>
              <a:t>We do not promise zero hallucinations. Typed nulls, source hashes, schema gates and deterministic math make model prose non-authoritative.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3529584"/>
            <a:ext cx="4416552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42631" y="3675888"/>
            <a:ext cx="4005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4B942"/>
                </a:solidFill>
                <a:latin typeface="DM Sans"/>
              </a:rPr>
              <a:t>02  Is this truly autonomous?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42631" y="3950208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D3DCE4"/>
                </a:solidFill>
                <a:latin typeface="DM Sans"/>
              </a:rPr>
              <a:t>The prototype autonomously prepares, tests, retries and routes a recommendation; it does not execute a financial decision.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32320" y="4700016"/>
            <a:ext cx="4416552" cy="987552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25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42631" y="4846320"/>
            <a:ext cx="400507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7D49B"/>
                </a:solidFill>
                <a:latin typeface="DM Sans"/>
              </a:rPr>
              <a:t>03  How does it scale safely?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5120640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D3DCE4"/>
                </a:solidFill>
                <a:latin typeface="DM Sans"/>
              </a:rPr>
              <a:t>Today: isolated in-memory case state and bounded retry. Target: durable state and queue workers—after shadow safety and value gates pass.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32320" y="5852160"/>
            <a:ext cx="4416552" cy="274320"/>
          </a:xfrm>
          <a:prstGeom prst="roundRect">
            <a:avLst/>
          </a:prstGeom>
          <a:solidFill>
            <a:srgbClr val="19C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87768" y="5916168"/>
            <a:ext cx="4105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071321"/>
                </a:solidFill>
                <a:latin typeface="DM Sans"/>
              </a:rPr>
              <a:t>DEMO: ENTERED ID + REASON + ATTESTATION  •  REJECT→APPROVE: DISTINCT 2ND 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Fiducia — Five bounded agents. One evidence chain.</dc:title>
  <dc:subject>ASU / TIAA AI Investment Spark Challenge — 3-minute pitch</dc:subject>
  <dc:creator>Fiducia Hackathon Team</dc:creator>
  <cp:keywords>agentic AI, fund governance, AWS Bedrock, LangGraph, human in the loop</cp:keywords>
  <dc:description>Educational prototype using synthetic data and illustrative policy.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